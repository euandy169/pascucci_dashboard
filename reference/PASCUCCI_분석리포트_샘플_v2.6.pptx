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57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59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3180DE6F-EC0F-F54E-9C44-DBA2B7673A18}">
          <p14:sldIdLst>
            <p14:sldId id="257"/>
          </p14:sldIdLst>
        </p14:section>
        <p14:section name="본문" id="{4CD394A7-B56D-6A44-8BB9-1C22D776C0D6}">
          <p14:sldIdLst>
            <p14:sldId id="258"/>
          </p14:sldIdLst>
        </p14:section>
        <p14:section name="마지막장" id="{7E156548-D10B-7744-8F60-DD90216C7A6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89"/>
    <p:restoredTop sz="94650"/>
  </p:normalViewPr>
  <p:slideViewPr>
    <p:cSldViewPr snapToGrid="0" showGuides="1">
      <p:cViewPr>
        <p:scale>
          <a:sx n="210" d="100"/>
          <a:sy n="210" d="100"/>
        </p:scale>
        <p:origin x="2968" y="110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2AFDDF-E2D7-534E-8136-BCA7677ED708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FA8B58-7BF9-A84C-9948-03C9ECE9C9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220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DD28E-F671-7E84-8667-4E77EAA86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6E2FFF-918C-03D5-F38E-DB5D3D155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4E0935-FD96-F343-C68A-0E61517AC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B5302-1D3F-85D4-E0E1-B6B53058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7954FA-5DD0-0F0E-6F5B-9CFA461D3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10583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0B54C6-0351-A7A5-AD41-3AC17B10F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34C58-3794-313C-192E-B110D549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30DF96-CBD9-74AE-654D-9E37CD57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42A25-1847-60D7-B0FD-3C2ED9330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852A63-74FD-0580-2FAD-EE25BBC1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365254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FEB3C-AD7D-BB15-5FA7-469B93751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CC514D-B629-6B9D-CE76-41C5D343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82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82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86A52-BE39-20E3-46A1-2FDCBFD8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9E038D-83E9-E7E1-375C-E84F51CE4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7F2E09-CEE3-5CE3-11A9-9999808C7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580270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B826B-4563-AB3C-493E-6E5490A1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3C6B97-2459-C134-4152-AA69AF075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250569-8C36-F0C8-AE2B-DB86E1C4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2912A9-DA8A-C897-5400-B08173B7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5CBB4B-F53E-A17F-C40E-160B2482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F500E0-CF44-B669-2361-AE72D2C6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556408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64D73-818B-C75D-0622-CF8DDEB09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18F41-83EB-0AFF-89FE-158223C5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40CA5E-9946-4E87-5672-37F12FA5D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9FF264-8611-5B4C-5916-97B16DFD3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A81EA5-939D-64B3-6A3B-B843682F0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332A82D-353E-308F-DD33-154F2B46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A41FDE6-C2CA-AE66-40FF-432FC277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5636624-BAC4-A841-0548-3C2539032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02617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DC0BA-34BC-1E10-F36B-2E452951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CB64D8-A4F2-97AE-EED6-1C68A71B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28AB7A-9159-4D8C-ACC4-02F8452D9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7AADF04-06E3-9CF0-FF6B-D01ED978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65589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594D277-1251-EA44-29BB-FF88B68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627703-1187-7FED-ABA3-230647158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EECEE8-5380-C642-09AE-74A967748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101757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80ADA0-23CA-70D0-34BB-6243F76A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73CD1-A30B-3E59-E67C-6EBBA409C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97F22B-44A0-EA9A-DA73-A2463406D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4E3BCB-F6EE-E4FE-6479-7215B249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03AC6-4CF3-E131-3616-0050962F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4559A0-FE08-6084-C7C1-151084E5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647393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B06FF0-9CAC-DC97-59F5-FDDD6CE9F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FADB69-E950-B43A-FABE-37FCF3E29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DE2C95-6B63-DE85-2127-1E800E069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A7F52B-8F8B-BCA6-D417-48A17B388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BB33BC-7C2D-B0B2-A5C0-5926CFCAD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64B542-C12B-F34A-FA47-03658F9F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13147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D9733-E8E1-6CEC-88D2-DEE34911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AB0474-61B9-2ABB-539E-309E7BED8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E871EC-8E30-69CF-2CFA-708604B4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79A23E-01A9-855F-F6FB-05E11DE4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E97AB3-80BD-F74B-C3F2-E411588F4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75075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43E19E-E938-DA67-A699-103EEF412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2D5DF-876B-37BC-4DE5-2D05B00B5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FB28F8-CB19-2CAC-C572-8D00A81C0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178BF1-51EA-7FD1-C897-7189A487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87CBE-BDE1-4298-10CC-B4A962CC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8725740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461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09EE68-984B-EDBE-5692-51523545E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39972-D5C0-E768-3163-E6B18F097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121E36-E3E2-1540-F211-0ED9E6F26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C879A-4186-3D44-AE68-B66A369E237F}" type="datetimeFigureOut">
              <a:rPr kumimoji="1" lang="ko-KR" altLang="en-US" smtClean="0"/>
              <a:t>2026. 6. 20.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4CE3B1-9F43-7509-B7AB-B296758F84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3F7665-4B83-EF47-14C5-2BC97EA6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B5D56-58FF-BC48-8AA9-C11DCB1309E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9452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642938"/>
            <a:ext cx="9905752" cy="5572125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57199" y="1060847"/>
            <a:ext cx="4333767" cy="15478"/>
          </a:xfrm>
          <a:prstGeom prst="rect">
            <a:avLst/>
          </a:prstGeom>
          <a:solidFill>
            <a:srgbClr val="D7DE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7198" y="1215628"/>
            <a:ext cx="4395801" cy="564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5B84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PAS CONSUMER INTELLIGENCE DASHBOARD</a:t>
            </a:r>
            <a:endParaRPr lang="en-US" sz="1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557199" y="1566942"/>
            <a:ext cx="4411155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ko-KR" sz="4400" b="1" dirty="0">
                <a:solidFill>
                  <a:srgbClr val="0F172A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INSIGHT</a:t>
            </a:r>
          </a:p>
          <a:p>
            <a:pPr marL="0" indent="0" algn="l">
              <a:buNone/>
            </a:pPr>
            <a:r>
              <a:rPr lang="en-US" sz="4400" b="1" dirty="0">
                <a:solidFill>
                  <a:srgbClr val="0F172A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REPORT</a:t>
            </a:r>
            <a:endParaRPr lang="en-US" sz="44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7199" y="3800475"/>
            <a:ext cx="4333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706" dirty="0" spc="-80">
                <a:solidFill>
                  <a:srgbClr val="334155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맑은 고딕" pitchFamily="34" charset="-120"/>
              </a:rPr>
              <a:t>PASCUCCI 브랜드 컨슈머 인텔리전스 리포트</a:t>
            </a:r>
            <a:endParaRPr lang="en-US" sz="1706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7199" y="4883944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REPORTING PERIOD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 spc="-8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맑은 고딕" pitchFamily="34" charset="-120"/>
              </a:rPr>
              <a:t>2026.06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55643" y="4883944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PREPARED BY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 spc="-8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맑은 고딕" pitchFamily="34" charset="-120"/>
              </a:rPr>
              <a:t>PAS DIVISION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7199" y="5325071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VERSION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 spc="-8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맑은 고딕" pitchFamily="34" charset="-120"/>
              </a:rPr>
              <a:t>v2.6.1(beta)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55643" y="5325071"/>
            <a:ext cx="2035322" cy="332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4" dirty="0">
                <a:solidFill>
                  <a:srgbClr val="475569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STATUS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 algn="l">
              <a:buNone/>
            </a:pPr>
            <a:r>
              <a:rPr lang="en-US" sz="934" dirty="0" spc="-8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맑은 고딕" pitchFamily="34" charset="-120"/>
              </a:rPr>
              <a:t>Final</a:t>
            </a:r>
            <a:endParaRPr lang="en-US" sz="934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0684ABF2-5B0A-8AB6-EB14-6408B6CA9047}"/>
              </a:ext>
            </a:extLst>
          </p:cNvPr>
          <p:cNvSpPr/>
          <p:nvPr/>
        </p:nvSpPr>
        <p:spPr>
          <a:xfrm>
            <a:off x="557199" y="3222386"/>
            <a:ext cx="4333767" cy="15478"/>
          </a:xfrm>
          <a:prstGeom prst="rect">
            <a:avLst/>
          </a:prstGeom>
          <a:solidFill>
            <a:srgbClr val="D7DE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63" name="그림 62" descr="what-is-data-analytics-introduction-to-data-analysis-edureka-data-analytics-png-2048_1745  | 실버버튼">
            <a:extLst>
              <a:ext uri="{FF2B5EF4-FFF2-40B4-BE49-F238E27FC236}">
                <a16:creationId xmlns:a16="http://schemas.microsoft.com/office/drawing/2014/main" id="{A2A68B05-893E-C42E-5434-092D1E820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7601" y="1076325"/>
            <a:ext cx="3251200" cy="27686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B9731DF4-D7B0-AFC5-1398-8160A90E7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920" t="35789" r="18080" b="34491"/>
          <a:stretch>
            <a:fillRect/>
          </a:stretch>
        </p:blipFill>
        <p:spPr>
          <a:xfrm>
            <a:off x="8331873" y="133519"/>
            <a:ext cx="1399524" cy="324954"/>
          </a:xfrm>
          <a:prstGeom prst="rect">
            <a:avLst/>
          </a:prstGeom>
        </p:spPr>
      </p:pic>
      <p:sp>
        <p:nvSpPr>
          <p:cNvPr id="65" name="Text 8">
            <a:extLst>
              <a:ext uri="{FF2B5EF4-FFF2-40B4-BE49-F238E27FC236}">
                <a16:creationId xmlns:a16="http://schemas.microsoft.com/office/drawing/2014/main" id="{8DA89598-F338-0714-06EE-46EAF415A277}"/>
              </a:ext>
            </a:extLst>
          </p:cNvPr>
          <p:cNvSpPr/>
          <p:nvPr/>
        </p:nvSpPr>
        <p:spPr>
          <a:xfrm>
            <a:off x="6822780" y="6694712"/>
            <a:ext cx="3019286" cy="149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Copyright 2026 PAS DIVISION Paris Croissant Co. Ltd.,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107604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331873" y="133519"/>
            <a:ext cx="1399524" cy="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39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A9177CA-848A-D0D9-3B3B-F935A915E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4241127" y="6189149"/>
            <a:ext cx="1399524" cy="324954"/>
          </a:xfrm>
          <a:prstGeom prst="rect">
            <a:avLst/>
          </a:prstGeom>
        </p:spPr>
      </p:pic>
      <p:sp>
        <p:nvSpPr>
          <p:cNvPr id="3" name="Text 7">
            <a:extLst>
              <a:ext uri="{FF2B5EF4-FFF2-40B4-BE49-F238E27FC236}">
                <a16:creationId xmlns:a16="http://schemas.microsoft.com/office/drawing/2014/main" id="{3CA7C1C2-814A-B500-9112-86980F1093F9}"/>
              </a:ext>
            </a:extLst>
          </p:cNvPr>
          <p:cNvSpPr/>
          <p:nvPr/>
        </p:nvSpPr>
        <p:spPr>
          <a:xfrm>
            <a:off x="2791724" y="3028273"/>
            <a:ext cx="4333766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4155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itchFamily="34" charset="-120"/>
              </a:rPr>
              <a:t>End of Document</a:t>
            </a:r>
            <a:endParaRPr lang="en-US" sz="3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7DB9F93-7F26-32E1-1E4E-B45AD6D1E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643145"/>
              </p:ext>
            </p:extLst>
          </p:nvPr>
        </p:nvGraphicFramePr>
        <p:xfrm>
          <a:off x="2085949" y="5335923"/>
          <a:ext cx="5731868" cy="487680"/>
        </p:xfrm>
        <a:graphic>
          <a:graphicData uri="http://schemas.openxmlformats.org/drawingml/2006/table">
            <a:tbl>
              <a:tblPr/>
              <a:tblGrid>
                <a:gridCol w="5731868">
                  <a:extLst>
                    <a:ext uri="{9D8B030D-6E8A-4147-A177-3AD203B41FA5}">
                      <a16:colId xmlns:a16="http://schemas.microsoft.com/office/drawing/2014/main" val="1702705489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본 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보고서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에는 회사의 비밀 정보가 포함되어 있을 수 있으며, 회사의 동의 없이 내용의 사용, 복사, 배포가 금지됩니다. </a:t>
                      </a:r>
                      <a:b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만약 </a:t>
                      </a:r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리포트 열람 권한이 없을 경우 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즉시 삭제하여 주시기 바랍니다.</a:t>
                      </a:r>
                      <a:b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</a:b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report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may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contain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confidential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information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of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company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and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any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use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copying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or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distribution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of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its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contents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without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company’s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consent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prohibited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.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If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you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are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not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intended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re</a:t>
                      </a:r>
                      <a:r>
                        <a:rPr lang="en-US" alt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ader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please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delete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this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email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immediately</a:t>
                      </a:r>
                      <a:r>
                        <a:rPr lang="ko-KR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.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090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497011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의 과제는 '평판'이 아니라 '존재감'으로 판단됨 — 호감은 중상위, 담론 점유는 0.3%에 불과함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8808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핵심 인사이트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21408"/>
            <a:ext cx="278384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240279"/>
            <a:ext cx="25278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시장·브랜드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578608"/>
            <a:ext cx="2527808" cy="12344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호감(NSS)과 담론량(SOV)은 반비례 —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호감 중상위(+18)이나 언급 0.3%로 존재감 미미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1080" y="2121408"/>
            <a:ext cx="278384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9096" y="2240279"/>
            <a:ext cx="25278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고객 이해 · 드라이버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9096" y="2578608"/>
            <a:ext cx="2527808" cy="12344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맛·디카페인 최고 만족(NSS +36), 프로모션·혜택 최대 불만(−32) — 본질 긍정·혜택 운영 부정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73520" y="2121408"/>
            <a:ext cx="2783840" cy="173736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1536" y="2240279"/>
            <a:ext cx="2527808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상품기획 시사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1536" y="2578608"/>
            <a:ext cx="2527808" cy="12344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디카페인이 맛과 동급 호감 + 워시드·게이샤 급부상 — '원두 전문성·저카페인'이 주류 수요로 부상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880872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Key Recommendations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480559"/>
            <a:ext cx="8763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'평판 개선'이 아니라 '담론 점유(SOV) 확대'에 자원을 집중 — 호감 기반이 있어 노출만 늘려도 우호 전환이 기대됨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946903"/>
            <a:ext cx="8763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'맛+디카페인+원두 전문성'을 강점 축으로 메시지를 세우고, 업계 공통 약점인 '복잡한 프로모션 불만'을 실속·투명 혜택으로 역공략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13247"/>
            <a:ext cx="8763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경쟁 준거군은 이디야·할리스 등 중가 스페셜티 지향 브랜드 — 이 군에서의 차별적 포지션 확보가 관건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0604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808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시장·브랜드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Overview · NSS 평판 · SOV 담론 점유 · 브랜드 로열티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시장·브랜드 진단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스타벅스가 담론을 압도하는 가운데, 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의 존재감은 최하위 수준으로 확인됨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핵심 지표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분석 기간 2025.06~2026.06 · 커뮤니티 VoC 4,390건 · 커피 브랜드 11개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담론 점유 1위 스타벅스 SOV 21.6%(949건) — 2위 투썸(3.8%)과도 압도적 격차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 11건·SOV 0.3% — 평판(NSS +18.2)은 중상위이나 존재감은 최하위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시장 전반 NSS는 음(−)권 — 대형 브랜드 부정 담론이 카테고리 정서를 끌어내림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담론은 소수 대형 브랜드에 집중되고, 그들의 부정 정서가 시장 전체 인상을 좌우한다.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그 담론장에 거의 등장하지 못한다.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1차 과제는 '보이는 것' — 노출·언급 확보 없이는 호감도 자산이 작동하지 않는다.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89077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18338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커뮤니티에서 자발적 언급을 유발할 화제 포인트(시그니처·원두 스토리) 확보가 최우선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80060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대형 브랜드 부정 이슈를 반면교사로, 같은 약점(상술·CS)을 피하는 포지션 설계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서울시민 91.5%가 주1회+ 커피 음용 — 커피는 일상재라 '떠오르는가(인지)'가 구매를 가른다.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시장·브랜드 진단 · NSS 평판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는 호감(NSS +18)은 양호하나, 담론 점유(SOV 0.3%)가 절대적으로 부족함</a:t>
            </a:r>
          </a:p>
        </p:txBody>
      </p:sp>
      <p:pic>
        <p:nvPicPr>
          <p:cNvPr id="6" name="Picture 5" descr="tmpw8wp8pt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호감(NSS)과 담론량(SOV)은 반비례한다.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평가는 중상위지만 언급이 거의 없다 — 평판이 아닌 '인지·화제'의 문제다.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과제는 평판 개선이 아니라 담론 점유(SOV) 확대다. 스페셜티의 호감 요인은 벤치마크하되 대량 노출의 부정 리스크는 피한다.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4078223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437083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화제성 신메뉴·콜라보로 언급량을 키우는 SOV 캠페인 — 호감 기반이 있어 노출이 우호 담론으로 전환된다.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98805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'스페셜티 결 원두·공간 품질'로 대중 브랜드와 다른 포지션을 명확히 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서울시민 91.5%가 주1회+ 커피 음용, 49%가 매일 — 식생활 정보 취득 2위가 온라인 커뮤니티로, 커뮤니티 화제성이 중요하다.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시장·브랜드 진단 · SOV 담론 점유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담론 점유는 스타벅스 1강 구도이며, 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는 점유 확대가 시급한 과제로 판단됨</a:t>
            </a:r>
          </a:p>
        </p:txBody>
      </p:sp>
      <p:pic>
        <p:nvPicPr>
          <p:cNvPr id="6" name="Picture 5" descr="tmpdwi26b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스타벅스가 SOV 21.6%로 1강, 나머지는 한 자릿수에 머문다. 담론 점유가 곧 상기도(top-of-mind)와 직결된다.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(0.3%)는 '점유 확대' 자체가 KPI가 되어야 한다. 작은 베이스라 캠페인 한 번의 언급 증가도 점유율 체감 효과가 크다.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4078223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437083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분기별 화제성 IP(콜라보·시즌 메뉴)로 언급량 절대치를 끌어올리는 SOV 부스팅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98805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커뮤니티 후기·UGC를 유도하는 체험 설계로 자연 언급 확보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식품비 부담 87.9% 환경에서 소비자는 '아는 브랜드' 안에서 선택 — 인지·점유가 가성비 못지않게 중요하다.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시장·브랜드 진단 · 브랜드 로열티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충성의 '비중'은 스페셜티·니치 브랜드가 높아, 규모와 충성은 분리되는 것으로 나타남</a:t>
            </a:r>
          </a:p>
        </p:txBody>
      </p:sp>
      <p:pic>
        <p:nvPicPr>
          <p:cNvPr id="6" name="Picture 5" descr="tmpugli9y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할리스·테라로사 등 중소·스페셜티가 로열티지수 상위, 스타벅스는 최하위. 언급량(규모)과 충성 '비중'은 별개다.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규모 경쟁 대신 '찐팬 비중'을 키우는 전략이 유효 — 작은 베이스라도 충성 코어를 두텁게.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원두 정기구독·시그니처 멤버십 등 반복소비 장치로 찐팬 비중 강화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스페셜티 애호층(테라로사·블루보틀 군)과의 접점에서 교차 유입 유도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디지털 식생활관리 앱 이용 19.5% — 앱 기반 리워드·루틴화가 충성 형성에 유효한 채널이다.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0604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808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고객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고객 클러스터링 · 소비 맥락 · 드라이버 분석(ABSA) · 브랜드 이미지맵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고객 이해 · 고객 클러스터링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고객은 대중 카페 이용층과 원두·스페셜티 애호층으로 분화되며, 후자가 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의 접점으로 확인됨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고객 군집(8개)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8개 군집 도출 — 스타벅스 중심 대중 이용층 / 가성비 추구층 / 원두·스페셜티 애호층 등으로 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최대 군집은 스타벅스·투썸 중심 대중 카페 이용층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76372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원두·스페셜티 애호 군집은 테라로사·블루보틀과 연관 —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가 파고들 우호 접점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4271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가성비 추구 군집은 메가·컴포즈 중심 — 가격 민감 담론의 본진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시장은 '대중 편의'와 '원두 전문성'이라는 두 축으로 갈라진다.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호감 자산은 후자 쪽에서 더 잘 작동한다.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전 고객을 좇기보다, 원두·스페셜티 애호 군집을 핵심 타깃으로 좁혀 메시지를 집중하는 편이 효율적이다.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원두 산지·로스팅 콘텐츠로 스페셜티 애호 군집을 정조준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가성비 군집에는 '합리적 가격의 스페셜티'라는 가치 제안으로 접근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채식·건강 지향(채식 17.3%)과 원두 전문성 수요가 겹치는 프리미엄·건강 소비층이 확대 중이다.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고객 이해 · 소비 맥락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디저트·아침 맥락은 호감이 높고 '선물·기프티콘' 맥락은 부정이 두드러지는 것으로 나타남</a:t>
            </a:r>
          </a:p>
        </p:txBody>
      </p:sp>
      <p:pic>
        <p:nvPicPr>
          <p:cNvPr id="6" name="Picture 5" descr="tmpalhm7z5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디저트 타임(+39)·아침 출근(+32) 등 '경험' 맥락은 호감이 높고, 선물·기프티콘(−26.5) 맥락은 불만이 집중된다.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강점 맥락(디저트·아침 루틴)은 키우고, 약점 맥락(기프티콘 사용성)은 개선 과제로 분리해 대응해야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389077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418338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'아침 루틴 + 디저트 페어링' 세트로 고호감 맥락을 상품화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61314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기프티콘 사용처·잔액·교환 UX를 개선해 선물 맥락의 부정을 차단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외식·음식점 이용 주1회+ 59.7% — 일상적 외식·테이크아웃 맥락이 커피 소비의 핵심 무대다.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고객 이해 · 드라이버 분석(ABSA)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소비자는 '맛·디카페인'에 가장 만족하고 '프로모션·혜택'에 가장 불만인 것으로 나타남</a:t>
            </a:r>
          </a:p>
        </p:txBody>
      </p:sp>
      <p:pic>
        <p:nvPicPr>
          <p:cNvPr id="6" name="Picture 5" descr="tmp3cxgmhg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제품 본질(맛·디카페인)은 강한 긍정, 혜택 운영은 강한 부정. 디카페인이 맛과 동급 호감인 건 '건강·저카페인'이 주류 수요가 됐다는 신호다.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'맛+디카페인'을 강점 축으로 세우고, 업계 공통 약점인 '복잡한 프로모션 불만'을 실속·투명 혜택으로 역공략한다.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389077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418338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디카페인·저카페인 라인을 강화하고 전면 커뮤니케이션 — 호감이 검증된(+35.9) 영역이라 실패 위험이 낮다.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80060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복잡한 적립·끼워팔기 대신 단순·즉시 체감형 혜택으로 프로모션 불만(−31.5)을 회피한다.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제로음료 섭취 동인 1위가 '체중조절'(42.0%)이고 가당음료 기피가 강화되는 추세 — 디카페인·저당 메시지는 시장 흐름과 정합적.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고객 이해 · 브랜드 이미지맵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는 '원두·품질' 이미지군에, 스타벅스는 '이슈·환불' 이미지군에 가깝게 위치함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브랜드 이미지 연관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'원두·직접·추천' 등 품질·신뢰 키워드와 가까운 영역에 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테라로사·블루보틀은 '원두·맛있어요' 군과 밀집 — 스페셜티 이미지 클러스터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스타벅스는 '환불·이슈' 등 부정 담론과 인접 — 대중성의 그림자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이미지 자산은 '스페셜티 결'에 있으며 이를 강화·확산하는 것이 유리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브랜드 이미지 지형에서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이미 '원두·품질' 쪽에 자리한다. 약한 건 이미지가 아니라 그 이미지의 도달 범위다.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새 이미지를 만들기보다 기존 '원두·품질' 연상을 더 많은 사람에게 노출·각인시키는 것이 효율적이다.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89077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18338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'원두 전문성'을 시각·언어 자산으로 표준화해 전 채널에 일관 노출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61314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스페셜티 군(테라로사·블루보틀) 인접 포지션을 활용한 비교·연관 콘텐츠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영양표시 확인 59.7%(+7.7%p) 등 정보 신뢰 민감도 상승 — '투명한 원두 정보'가 신뢰 이미지로 연결된다.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0604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808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상품기획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트렌드 조기경보 · 핵심 키워드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상품기획 지원 · 트렌드 조기경보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'워시드·게이샤' 등 스페셜티 원두 담론이 급부상하며 원두 전문성 수요가 확대되는 것으로 판단됨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트렌드 조기경보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최근 급부상: '워시드'·'게이샤'(스페셜티 원두 가공·품종) 등 원두 전문 키워드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기준선 월평균 대비 최근 월 언급 급증(166건) — 스페셜티 관심 확대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디카페인·저카페인 관련 담론도 지속 상승세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4271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'원두 품질' 자산과 결이 맞는 트렌드 — 선점 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대중 카페 피로감 속에 '원두를 아는 소비'가 부상한다. 게이샤·워시드 같은 전문 용어의 확산은 시장의 고급화 신호다.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가 '원두 전문성'을 선점하면, 떠오르는 트렌드의 수혜를 호감 자산과 결합해 받을 수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싱글오리진·가공방식(워시드/내추럴) 라인업과 스토리텔링 메뉴 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디카페인 스페셜티 등 '건강 × 전문성' 교집합 신메뉴 개발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기후위기 먹거리 우려 60%+ — 공정무역·산지 스토리는 지속가능 소비 담론과도 연결된다.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상품기획 지원 · 핵심 키워드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담론은 '커피·라떼·원두·맛'을 중심으로 형성되며 '디카페인'이 상위 키워드로 부상함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핵심 키워드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최상위 키워드군: 커피·라떼·원두·맛 — 제품 본질 중심 담론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'디카페인'이 상위 키워드로 부상 — 건강 지향 제품 수요의 신호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'가격·이슈' 키워드도 상위 — 가성비·이슈 민감도 동반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신메뉴·시그니처는 '원두 스토리 + 디카페인 옵션' 조합이 키워드 적중도 높음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소비자 언어는 '맛·원두'라는 본질과 '디카페인'이라는 건강 키워드로 수렴한다. 제품 개발의 언어가 곧 이것이어야 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마케팅 카피·메뉴명은 소비자가 실제 쓰는 키워드(원두·디카페인)에 맞춰야 검색·공감 도달이 높아진다.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89077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183380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메뉴명·해시태그에 '원두/싱글오리진/디카페인' 키워드를 전략적으로 배치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61314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키워드 기반 콘텐츠(원두 가이드·디카페인 추천)로 검색 유입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제로·저당 식품 동인 1위가 '맛'(57.1%) — 건강 키워드도 결국 '맛 전제'가 충족돼야 작동한다.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0604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808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커뮤니케이션 인텔리전스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토픽(LDA) · 프로모션 모니터링 · 브랜드 동시언급(PMI)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커뮤니케이션 · 토픽(LDA)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담론은 '맛·품질'이 주축이나 '건강·디카페인'이 독립 토픽으로 구조화된 것으로 확인됨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주요 토픽(6개)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최대 토픽은 '맛·품질 평가' — 본질 중심 담론이 시장의 주된 화제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'가격·이슈 담론'(약 1,100건)이 큰 비중 — 가성비·이슈 민감도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'건강·디카페인 니즈'가 독립 토픽으로 형성(440여 건) — 저카페인 수요의 구조화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'디저트·베이커리' 토픽 별도 존재 —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 강점(디저트 페어링) 연계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담론 구조에서 '건강·디카페인'이 별도 주제로 분리됐다는 것은, 이 니즈가 일시적 유행이 아니라 정착된 수요임을 뜻한다.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944368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236975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커뮤니케이션은 '맛·품질'을 기본으로 하되, '건강·디카페인'과 '디저트' 토픽을 별도 메시지 라인으로 운영할 가치가 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4078223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437083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'맛/원두', '건강/디카페인', '디저트 페어링' 3개 메시지 라인으로 콘텐츠 캘린더 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988051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가격·이슈 토픽에는 '실속·투명' 프레임으로 선제 대응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건강식생활 노력 54.5% — 건강 메시지는 광범위한 공감대를 갖되 과장 없는 톤이 신뢰를 만든다.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커뮤니케이션 · 프로모션 모니터링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반응이 강한 촉진은 '페이 행사·신메뉴·1+1'이며, 복잡한 혜택보다 즉시 체감형이 효과적인 것으로 나타남</a:t>
            </a:r>
          </a:p>
        </p:txBody>
      </p:sp>
      <p:pic>
        <p:nvPicPr>
          <p:cNvPr id="6" name="Picture 5" descr="tmpm_n08z1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5120640" cy="40204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반응강도는 페이 행사·신메뉴·1+1 등 '즉시 체감되는' 촉진에서 높다. 굿즈·복잡 적립은 상대적으로 약하다.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혜택은 가짓수가 아니라 '즉시성·단순성'이 핵심. 신메뉴 출시와 단순 증정을 결합하면 반응을 극대화할 수 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신메뉴 출시 + 1+1/증정의 즉시 체감형 패키지로 런칭 반응 극대화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복잡한 적립 구조를 단순화하고, 페이·간편결제 연계 행사로 전환율 제고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식품비 부담층 45.5%가 '꼭 필요한 것만 구매' — 실속·즉시형 혜택이 가성비 심리에 가장 잘 맞는다.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커뮤니케이션 · 브랜드 동시언급(PMI)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는 이디야와 가장 자주 함께 거론되어, 중가 스페셜티 지향군이 경쟁 준거로 확인됨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브랜드 동시언급(PMI)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동시언급 1위 쌍: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–이디야(PMI 5.03) — 중가 카페 비교군에서 함께 거론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테라로사–블루보틀(4.83), 이디야–할리스(4.65) 등 포지션 유사 브랜드끼리 묶임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직접 준거군은 이디야·할리스 등 '중가 + 품질 지향' 브랜드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스타벅스와는 동시언급 약함 — 대중 1강과는 다른 리그로 인식됨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소비자 머릿속에서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스타벅스가 아니라 이디야·할리스와 비교된다. 경쟁의 실제 무대는 '중가 품질' 시장이다.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벤치마크·차별화 대상은 이디야·할리스. 이 군 대비 '원두 전문성·공간 품질'의 우위를 명확히 해야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이디야·할리스 대비 '원두·시그니처'의 차별점을 직접 비교 가능한 형태로 커뮤니케이션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61314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중가대에서 '한 단계 위 품질'이라는 가치 포지션 선점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가격 민감(체감물가 ↑) 환경에서 중가대 경쟁은 '가격 대비 품질 체감'이 승부처다.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60604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6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63240"/>
            <a:ext cx="8808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30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이슈 캐처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069080"/>
            <a:ext cx="88087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3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Burst 탐지 · 리스크 탐지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이슈 캐처 · Burst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스페셜티 원두(워시드·게이샤) 관련 키워드가 단기 급증하며 화제 형성 기회가 포착됨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급증 키워드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급증 키워드: '워시드'·'게이샤'(스페셜티 원두)·'탱크데이' 등 — 원두 전문 담론의 단기 폭증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원두 이벤트·한정 메뉴가 화제성을 만드는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976372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(주의) '이전·다음' 등 페이지네이션 노이즈는 해석에서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4271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스페셜티 원두 행사·한정판이 단기 SOV를 끌어올릴 레버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단기 급증의 실체는 '스페셜티 원두 이벤트'다. 이런 화제는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의 강점(원두)과 정확히 겹친다.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급증 신호를 보고 즉시 올라탈 수 있는 '원두 한정판·이벤트' 운영 체계를 갖추면 SOV 부스팅에 유리하다.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월별 '원두 한정판/탱크데이형 이벤트'로 정기적 화제 포인트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급증 키워드 모니터링 → 48시간 내 대응 콘텐츠 발행 프로세스 구축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정보 취득에서 온라인 커뮤니티 비중이 높아, 커뮤니티발 화제는 빠르게 인지로 전환된다.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그림 1">
            <a:extLst>
              <a:ext uri="{FF2B5EF4-FFF2-40B4-BE49-F238E27FC236}">
                <a16:creationId xmlns:a16="http://schemas.microsoft.com/office/drawing/2014/main" id="{03E9D2C4-3D21-0813-87E9-3DB1E363DC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920" t="35789" r="18080" b="34491"/>
          <a:stretch>
            <a:fillRect/>
          </a:stretch>
        </p:blipFill>
        <p:spPr>
          <a:xfrm>
            <a:off x="8471826" y="133519"/>
            <a:ext cx="1259571" cy="292458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548640" y="329184"/>
            <a:ext cx="7786025" cy="0"/>
          </a:xfrm>
          <a:prstGeom prst="bentConnector3">
            <a:avLst/>
          </a:prstGeom>
          <a:ln w="6350">
            <a:solidFill>
              <a:srgbClr val="11111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411480"/>
            <a:ext cx="88087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이슈 캐처 · 리스크 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88087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8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'선물·기프티콘' 경험과 대형 브랜드 부정 정서가 카테고리 리스크 요인으로 확인됨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64208"/>
            <a:ext cx="4892040" cy="4160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810512"/>
            <a:ext cx="4562855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2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리스크 신호 요약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231136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'선물·기프티콘' 맥락 NSS −26.5 — 사용처·잔액·교환 등 부정 경험 누적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스타벅스 부정률 47.7%(부정 453건) — 대형 브랜드 리스크가 카테고리 정서를 좌우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163824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프로모션·혜택 속성 NSS −31.5 — 상술성 혜택에 대한 광범위한 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630168"/>
            <a:ext cx="4562855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→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는 기프티콘 UX·혜택 투명성으로 부정 리스크를 선제 차단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664208"/>
            <a:ext cx="3794760" cy="4160520"/>
          </a:xfrm>
          <a:prstGeom prst="rect">
            <a:avLst/>
          </a:prstGeom>
          <a:solidFill>
            <a:srgbClr val="F4F6F9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9864" y="1810512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의미 (So what)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8152" y="2103120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카테고리 부정 리스크는 '제품'이 아니라 '운영(기프티콘·혜택·CS)'에서 나온다. 본질이 아닌 경험의 문제다.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2756915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1B2A4A"/>
                </a:solidFill>
                <a:latin typeface="맑은 고딕"/>
                <a:ea typeface="맑은 고딕"/>
                <a:cs typeface="맑은 고딕"/>
              </a:rPr>
              <a:t>▪ 함의 (Implication)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049523"/>
            <a:ext cx="3483864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제품을 더 잘 만드는 것보다 '운영 마찰'을 없애는 것이 </a:t>
            </a:r>
            <a:r>
              <a:rPr sz="1200" b="1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파스쿠찌</a:t>
            </a: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 호감 유지에 더 직접적이다.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3703320"/>
            <a:ext cx="35021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300" b="1" spc="-80">
                <a:solidFill>
                  <a:srgbClr val="C0392B"/>
                </a:solidFill>
                <a:latin typeface="맑은 고딕"/>
                <a:ea typeface="맑은 고딕"/>
                <a:cs typeface="맑은 고딕"/>
              </a:rPr>
              <a:t>▪ 실행 시나리오 (Action)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88152" y="3995928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기프티콘 사용처 확대·잔액 관리·교환 정책을 선제 정비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4425696"/>
            <a:ext cx="3483864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100"/>
              </a:spcAft>
            </a:pPr>
            <a:r>
              <a:rPr sz="1200" b="0" spc="-80">
                <a:solidFill>
                  <a:srgbClr val="2D3748"/>
                </a:solidFill>
                <a:latin typeface="맑은 고딕"/>
                <a:ea typeface="맑은 고딕"/>
                <a:cs typeface="맑은 고딕"/>
              </a:rPr>
              <a:t>· 혜택 고지를 '쉽고 투명하게' 표준화해 상술 인식 차단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943600"/>
            <a:ext cx="8900160" cy="585216"/>
          </a:xfrm>
          <a:prstGeom prst="rect">
            <a:avLst/>
          </a:prstGeom>
          <a:solidFill>
            <a:srgbClr val="F7F2E8"/>
          </a:solidFill>
          <a:ln w="9525">
            <a:solidFill>
              <a:srgbClr val="E6D8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00" b="1" spc="-80">
                <a:solidFill>
                  <a:srgbClr val="B48A3C"/>
                </a:solidFill>
                <a:latin typeface="맑은 고딕"/>
                <a:ea typeface="맑은 고딕"/>
                <a:cs typeface="맑은 고딕"/>
              </a:rPr>
              <a:t>시장 근거 · 서울 먹거리조사   </a:t>
            </a:r>
            <a:r>
              <a:rPr sz="1000" b="0" spc="-80">
                <a:solidFill>
                  <a:srgbClr val="718096"/>
                </a:solidFill>
                <a:latin typeface="맑은 고딕"/>
                <a:ea typeface="맑은 고딕"/>
                <a:cs typeface="맑은 고딕"/>
              </a:rPr>
              <a:t>식품 안전·정보 신뢰 민감도 상승(영양표시 확인 +7.7%p) — 운영 투명성이 곧 신뢰 자산이다.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6EF3050-7D9D-6640-BCEC-0C4E81D23E34}">
  <we:reference id="wa200010215" version="2.0.0.0" store="ko-KR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119</Words>
  <Application>Microsoft Macintosh PowerPoint</Application>
  <PresentationFormat>A4 용지(210x297mm)</PresentationFormat>
  <Paragraphs>16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안드레아 유</dc:creator>
  <cp:lastModifiedBy>안드레아 유</cp:lastModifiedBy>
  <cp:revision>2</cp:revision>
  <dcterms:created xsi:type="dcterms:W3CDTF">2026-06-20T10:02:58Z</dcterms:created>
  <dcterms:modified xsi:type="dcterms:W3CDTF">2026-06-20T10:27:05Z</dcterms:modified>
</cp:coreProperties>
</file>